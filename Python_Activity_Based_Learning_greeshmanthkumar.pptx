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040" y="-6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7999" y="50400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9879" y="1575500"/>
            <a:ext cx="3243091" cy="800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515" marR="5080" indent="-44450">
              <a:lnSpc>
                <a:spcPct val="103299"/>
              </a:lnSpc>
            </a:pPr>
            <a:r>
              <a:rPr dirty="0"/>
              <a:t>PYTHON</a:t>
            </a:r>
            <a:r>
              <a:rPr spc="175" dirty="0"/>
              <a:t> </a:t>
            </a:r>
            <a:r>
              <a:rPr spc="-10" dirty="0"/>
              <a:t>ACTIVITY </a:t>
            </a:r>
            <a:r>
              <a:rPr spc="120" dirty="0"/>
              <a:t>BASED</a:t>
            </a:r>
            <a:r>
              <a:rPr spc="190" dirty="0"/>
              <a:t> </a:t>
            </a:r>
            <a:r>
              <a:rPr spc="40" dirty="0"/>
              <a:t>LEARNING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643050"/>
              </p:ext>
            </p:extLst>
          </p:nvPr>
        </p:nvGraphicFramePr>
        <p:xfrm>
          <a:off x="1398920" y="3350819"/>
          <a:ext cx="4751704" cy="1732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9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7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6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Student</a:t>
                      </a:r>
                      <a:r>
                        <a:rPr sz="900" spc="3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8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1270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lang="en-US" sz="900" spc="55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Greeshmanthkumar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4DDE8"/>
                      </a:solidFill>
                      <a:prstDash val="soli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1270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Roll</a:t>
                      </a:r>
                      <a:r>
                        <a:rPr sz="900" spc="18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7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Number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10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26</a:t>
                      </a:r>
                      <a:r>
                        <a:rPr lang="en-US" sz="900" spc="3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000983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4DDE8"/>
                      </a:solidFill>
                      <a:prstDash val="soli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6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Branch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10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CSM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4DDE8"/>
                      </a:solidFill>
                      <a:prstDash val="soli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4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Section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5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4DDE8"/>
                      </a:solidFill>
                      <a:prstDash val="soli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635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5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Tools</a:t>
                      </a:r>
                      <a:r>
                        <a:rPr sz="900" spc="4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6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Used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D4DDE8"/>
                      </a:solidFill>
                      <a:prstDash val="solid"/>
                    </a:lnL>
                    <a:lnR w="635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1270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900" spc="5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Python,</a:t>
                      </a:r>
                      <a:r>
                        <a:rPr sz="900" spc="4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6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Visual</a:t>
                      </a:r>
                      <a:r>
                        <a:rPr sz="900" spc="4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6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Studio</a:t>
                      </a:r>
                      <a:r>
                        <a:rPr sz="900" spc="40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spc="65" dirty="0">
                          <a:solidFill>
                            <a:srgbClr val="1F2838"/>
                          </a:solidFill>
                          <a:latin typeface="Trebuchet MS"/>
                          <a:cs typeface="Trebuchet MS"/>
                        </a:rPr>
                        <a:t>Code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4DDE8"/>
                      </a:solidFill>
                      <a:prstDash val="solid"/>
                    </a:lnL>
                    <a:lnR w="12700">
                      <a:solidFill>
                        <a:srgbClr val="D4DDE8"/>
                      </a:solidFill>
                      <a:prstDash val="solid"/>
                    </a:lnR>
                    <a:lnT w="6350">
                      <a:solidFill>
                        <a:srgbClr val="D4DDE8"/>
                      </a:solidFill>
                      <a:prstDash val="solid"/>
                    </a:lnT>
                    <a:lnB w="12700">
                      <a:solidFill>
                        <a:srgbClr val="D4DDE8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82650" y="5194300"/>
            <a:ext cx="6137275" cy="292342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endParaRPr sz="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CONTENTS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—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TEN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CASE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-10" dirty="0">
                <a:solidFill>
                  <a:srgbClr val="1F4D79"/>
                </a:solidFill>
                <a:latin typeface="Gill Sans MT"/>
                <a:cs typeface="Gill Sans MT"/>
              </a:rPr>
              <a:t>STUDIES</a:t>
            </a:r>
            <a:endParaRPr sz="1150" dirty="0">
              <a:latin typeface="Gill Sans MT"/>
              <a:cs typeface="Gill Sans MT"/>
            </a:endParaRPr>
          </a:p>
          <a:p>
            <a:pPr marL="12700" marR="3220720">
              <a:lnSpc>
                <a:spcPct val="134900"/>
              </a:lnSpc>
              <a:spcBef>
                <a:spcPts val="80"/>
              </a:spcBef>
            </a:pP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01.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Smart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1F2838"/>
                </a:solidFill>
                <a:latin typeface="Trebuchet MS"/>
                <a:cs typeface="Trebuchet MS"/>
              </a:rPr>
              <a:t>Parking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1F2838"/>
                </a:solidFill>
                <a:latin typeface="Trebuchet MS"/>
                <a:cs typeface="Trebuchet MS"/>
              </a:rPr>
              <a:t>Fee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Management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10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02.</a:t>
            </a:r>
            <a:r>
              <a:rPr sz="1050" spc="10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1F2838"/>
                </a:solidFill>
                <a:latin typeface="Trebuchet MS"/>
                <a:cs typeface="Trebuchet MS"/>
              </a:rPr>
              <a:t>Password</a:t>
            </a:r>
            <a:r>
              <a:rPr sz="1050" spc="10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1F2838"/>
                </a:solidFill>
                <a:latin typeface="Trebuchet MS"/>
                <a:cs typeface="Trebuchet MS"/>
              </a:rPr>
              <a:t>Policy</a:t>
            </a:r>
            <a:r>
              <a:rPr sz="1050" spc="10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1F2838"/>
                </a:solidFill>
                <a:latin typeface="Trebuchet MS"/>
                <a:cs typeface="Trebuchet MS"/>
              </a:rPr>
              <a:t>Validation</a:t>
            </a:r>
            <a:r>
              <a:rPr sz="1050" spc="10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Engine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03.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100" dirty="0">
                <a:solidFill>
                  <a:srgbClr val="1F2838"/>
                </a:solidFill>
                <a:latin typeface="Trebuchet MS"/>
                <a:cs typeface="Trebuchet MS"/>
              </a:rPr>
              <a:t>Campus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Transport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1F2838"/>
                </a:solidFill>
                <a:latin typeface="Trebuchet MS"/>
                <a:cs typeface="Trebuchet MS"/>
              </a:rPr>
              <a:t>Allocation</a:t>
            </a:r>
            <a:endParaRPr sz="1050" dirty="0">
              <a:latin typeface="Trebuchet MS"/>
              <a:cs typeface="Trebuchet MS"/>
            </a:endParaRPr>
          </a:p>
          <a:p>
            <a:pPr marL="12700" marR="2437765">
              <a:lnSpc>
                <a:spcPct val="134900"/>
              </a:lnSpc>
            </a:pP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04.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Smart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1F2838"/>
                </a:solidFill>
                <a:latin typeface="Trebuchet MS"/>
                <a:cs typeface="Trebuchet MS"/>
              </a:rPr>
              <a:t>Canteen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Order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1F2838"/>
                </a:solidFill>
                <a:latin typeface="Trebuchet MS"/>
                <a:cs typeface="Trebuchet MS"/>
              </a:rPr>
              <a:t>Stock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Management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05.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Food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Waste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Monitoring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System</a:t>
            </a:r>
            <a:endParaRPr sz="1050" dirty="0">
              <a:latin typeface="Trebuchet MS"/>
              <a:cs typeface="Trebuchet MS"/>
            </a:endParaRPr>
          </a:p>
          <a:p>
            <a:pPr marL="12700" marR="2983865">
              <a:lnSpc>
                <a:spcPct val="134900"/>
              </a:lnSpc>
            </a:pP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06.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1F2838"/>
                </a:solidFill>
                <a:latin typeface="Trebuchet MS"/>
                <a:cs typeface="Trebuchet MS"/>
              </a:rPr>
              <a:t>Sports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Tournament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Ranking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System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07.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University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1F2838"/>
                </a:solidFill>
                <a:latin typeface="Trebuchet MS"/>
                <a:cs typeface="Trebuchet MS"/>
              </a:rPr>
              <a:t>Admission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Decision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Engine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08.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University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1F2838"/>
                </a:solidFill>
                <a:latin typeface="Trebuchet MS"/>
                <a:cs typeface="Trebuchet MS"/>
              </a:rPr>
              <a:t>Hostel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100" dirty="0">
                <a:solidFill>
                  <a:srgbClr val="1F2838"/>
                </a:solidFill>
                <a:latin typeface="Trebuchet MS"/>
                <a:cs typeface="Trebuchet MS"/>
              </a:rPr>
              <a:t>Room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1F2838"/>
                </a:solidFill>
                <a:latin typeface="Trebuchet MS"/>
                <a:cs typeface="Trebuchet MS"/>
              </a:rPr>
              <a:t>Allocation</a:t>
            </a:r>
            <a:endParaRPr sz="1050" dirty="0">
              <a:latin typeface="Trebuchet MS"/>
              <a:cs typeface="Trebuchet MS"/>
            </a:endParaRPr>
          </a:p>
          <a:p>
            <a:pPr marL="12700" marR="2757805">
              <a:lnSpc>
                <a:spcPct val="134900"/>
              </a:lnSpc>
            </a:pP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09.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1F2838"/>
                </a:solidFill>
                <a:latin typeface="Trebuchet MS"/>
                <a:cs typeface="Trebuchet MS"/>
              </a:rPr>
              <a:t>Hackathon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Team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Formation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1F2838"/>
                </a:solidFill>
                <a:latin typeface="Trebuchet MS"/>
                <a:cs typeface="Trebuchet MS"/>
              </a:rPr>
              <a:t>Ranking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10.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University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Scholarship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1F2838"/>
                </a:solidFill>
                <a:latin typeface="Trebuchet MS"/>
                <a:cs typeface="Trebuchet MS"/>
              </a:rPr>
              <a:t>Allocation</a:t>
            </a:r>
            <a:endParaRPr sz="105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6113780" cy="60942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1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University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5" dirty="0">
                <a:solidFill>
                  <a:srgbClr val="16365D"/>
                </a:solidFill>
                <a:latin typeface="Gill Sans MT"/>
                <a:cs typeface="Gill Sans MT"/>
              </a:rPr>
              <a:t>Admission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Decision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5" dirty="0">
                <a:solidFill>
                  <a:srgbClr val="16365D"/>
                </a:solidFill>
                <a:latin typeface="Gill Sans MT"/>
                <a:cs typeface="Gill Sans MT"/>
              </a:rPr>
              <a:t>Engine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1125855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applications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many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courses.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Checking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every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application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takes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errors.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Admission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Decision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Engine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this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course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requirements.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identifies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 applicants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generates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list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support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admission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decisions.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</a:t>
            </a:r>
            <a:endParaRPr sz="750" dirty="0">
              <a:latin typeface="Trebuchet MS"/>
              <a:cs typeface="Trebuchet MS"/>
            </a:endParaRPr>
          </a:p>
          <a:p>
            <a:pPr marL="12700" marR="95885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evaluates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admission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course-specific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selects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endParaRPr sz="750" dirty="0">
              <a:latin typeface="Trebuchet MS"/>
              <a:cs typeface="Trebuchet MS"/>
            </a:endParaRPr>
          </a:p>
          <a:p>
            <a:pPr marL="12700" marR="922655">
              <a:lnSpc>
                <a:spcPct val="116700"/>
              </a:lnSpc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tie-breaking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equal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status,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percentage.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offers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courses: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ECE.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75%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65%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ECE.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candidate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meet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requirements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selected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course.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marks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ranks.</a:t>
            </a:r>
            <a:endParaRPr sz="750" dirty="0">
              <a:latin typeface="Trebuchet MS"/>
              <a:cs typeface="Trebuchet MS"/>
            </a:endParaRPr>
          </a:p>
          <a:p>
            <a:pPr marL="12700" marR="81597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candidate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higher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included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ranking.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assumes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information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Read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applicants.</a:t>
            </a:r>
            <a:endParaRPr sz="750" dirty="0">
              <a:latin typeface="Trebuchet MS"/>
              <a:cs typeface="Trebuchet MS"/>
            </a:endParaRPr>
          </a:p>
          <a:p>
            <a:pPr marL="12700" marR="154749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name,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course,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aggregate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selected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course.</a:t>
            </a:r>
            <a:endParaRPr sz="750" dirty="0">
              <a:latin typeface="Trebuchet MS"/>
              <a:cs typeface="Trebuchet MS"/>
            </a:endParaRPr>
          </a:p>
          <a:p>
            <a:pPr marL="12700" marR="1313180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satisfies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eligible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list.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Arrange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aggregate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rank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list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applicants.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1130" y="1037499"/>
            <a:ext cx="4257738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3011805" cy="3446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41605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58975" indent="-217170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41605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307465" indent="216535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508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144905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 i b l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 l i c a n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445510" cy="664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 r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t y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i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o n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e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92773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 u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E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c 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676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/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l o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 " 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i c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r 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17614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2067560" indent="-217170">
              <a:lnSpc>
                <a:spcPct val="1107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68783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33020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76454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spc="2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76454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718185">
              <a:lnSpc>
                <a:spcPct val="100000"/>
              </a:lnSpc>
              <a:spcBef>
                <a:spcPts val="90"/>
              </a:spcBef>
            </a:pP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 indent="650875">
              <a:lnSpc>
                <a:spcPct val="2214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- 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14490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36207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6559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t h 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t i c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r k s : "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Use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these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works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correctly.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7421789"/>
            <a:ext cx="48450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4313" y="7537613"/>
            <a:ext cx="1130300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90%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70%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eligible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68%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499" y="7404263"/>
            <a:ext cx="3740785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563245">
              <a:lnSpc>
                <a:spcPct val="100000"/>
              </a:lnSpc>
              <a:spcBef>
                <a:spcPts val="245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Course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eligible?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ECE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ECE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5481" y="7937663"/>
            <a:ext cx="2855595" cy="2921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85%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90%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Eligible;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break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tie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1037500"/>
            <a:ext cx="6120000" cy="269036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3734218"/>
            <a:ext cx="5789295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applicants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against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course-specific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admission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requirements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ranks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eligible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candidates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stated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rules.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supports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more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consistent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screening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tie-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breaking.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658485" cy="59893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2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University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Hostel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0" dirty="0">
                <a:solidFill>
                  <a:srgbClr val="16365D"/>
                </a:solidFill>
                <a:latin typeface="Gill Sans MT"/>
                <a:cs typeface="Gill Sans MT"/>
              </a:rPr>
              <a:t>Room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Allocation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51943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accommodate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many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hostels,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cause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confusion,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allocations,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issues.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allocation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grouping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requirements.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identifies</a:t>
            </a:r>
            <a:endParaRPr sz="750" dirty="0">
              <a:latin typeface="Trebuchet MS"/>
              <a:cs typeface="Trebuchet MS"/>
            </a:endParaRPr>
          </a:p>
          <a:p>
            <a:pPr marL="12700" marR="942340">
              <a:lnSpc>
                <a:spcPct val="116700"/>
              </a:lnSpc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assignments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demand,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helping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hostel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administrators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manage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efficiently.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2700" marR="655955">
              <a:lnSpc>
                <a:spcPct val="116700"/>
              </a:lnSpc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program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room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grouping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constraints.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also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detects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assignments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could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room.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unique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number,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category.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which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they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maximum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belonging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specified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group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should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whenever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possible.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room.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room,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counted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as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details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capacities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correctly.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rooms.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room's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number,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category.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student's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category,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group.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already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been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entered.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group.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suitable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found,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room's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occupancy.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suitable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mark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allocations,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assignments,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4650" y="1037499"/>
            <a:ext cx="3550699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686050" cy="3446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5246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221400"/>
              </a:lnSpc>
            </a:pP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6454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710565">
              <a:lnSpc>
                <a:spcPct val="110700"/>
              </a:lnSpc>
            </a:pP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a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 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e s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s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438784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09029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336925" cy="9115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4479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09029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601980">
              <a:lnSpc>
                <a:spcPct val="110700"/>
              </a:lnSpc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a c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 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a c i t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p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E 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B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s / G i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s )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) . l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e r 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95897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741805" algn="just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 y "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 y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1915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i n p u t ( " \ n E n t 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 e n t s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14490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p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E 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B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s / G i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s )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) . l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e r 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25349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01358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880744" marR="49339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384810" indent="-217170">
              <a:lnSpc>
                <a:spcPct val="110700"/>
              </a:lnSpc>
              <a:spcBef>
                <a:spcPts val="5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10902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880744" marR="54737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33020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u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"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9277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- - -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731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\ n 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m : " 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o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u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 e r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98171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73592"/>
            <a:ext cx="3423920" cy="1781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9755">
              <a:lnSpc>
                <a:spcPct val="110700"/>
              </a:lnSpc>
              <a:spcBef>
                <a:spcPts val="9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T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 l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 l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e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d : "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(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a l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c a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d 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student;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space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full</a:t>
            </a:r>
            <a:r>
              <a:rPr sz="750" spc="4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category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does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twice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detected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Group's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full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affected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264912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2903130"/>
            <a:ext cx="6120000" cy="27724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1499" y="5681947"/>
            <a:ext cx="612775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assigns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students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to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rooms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while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considering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eligibility,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room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capacity,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grouping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rules,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and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duplicate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IDs.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also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identifies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students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who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could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not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be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allocated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room.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9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65719"/>
            <a:ext cx="5387975" cy="6728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3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Gill Sans MT"/>
                <a:cs typeface="Gill Sans MT"/>
              </a:rPr>
              <a:t>Hackathon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Team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Formation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15" dirty="0">
                <a:solidFill>
                  <a:srgbClr val="16365D"/>
                </a:solidFill>
                <a:latin typeface="Gill Sans MT"/>
                <a:cs typeface="Gill Sans MT"/>
              </a:rPr>
              <a:t>and </a:t>
            </a:r>
            <a:r>
              <a:rPr sz="1800" b="1" spc="210" dirty="0">
                <a:solidFill>
                  <a:srgbClr val="16365D"/>
                </a:solidFill>
                <a:latin typeface="Gill Sans MT"/>
                <a:cs typeface="Gill Sans MT"/>
              </a:rPr>
              <a:t>Ranking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22225">
              <a:lnSpc>
                <a:spcPct val="116700"/>
              </a:lnSpc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Hackathons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involve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teams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competing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across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several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rounds.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forming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teams,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team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sizes,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round-wise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scores,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participants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time-consuming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endParaRPr sz="750" dirty="0">
              <a:latin typeface="Trebuchet MS"/>
              <a:cs typeface="Trebuchet MS"/>
            </a:endParaRPr>
          </a:p>
          <a:p>
            <a:pPr marL="12700" marR="30607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errors.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Formation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these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tasks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validating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team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composition,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scores,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generating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list.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scores,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uses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tie-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breaker.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2700" marR="219710">
              <a:lnSpc>
                <a:spcPct val="116700"/>
              </a:lnSpc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develop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forms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teams,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team sizes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eligibility,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across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rounds,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performance.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program also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resolves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has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unique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most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belong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Every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participates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rounds.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non-negative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sum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rounds.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 have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scores,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share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rounds.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team's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name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members.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each team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between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members.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member's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no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assigned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team's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every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round.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Sort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score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1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compare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Assign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whose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equal.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10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9522" y="1037499"/>
            <a:ext cx="4600954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414270" cy="450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1988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93395">
              <a:lnSpc>
                <a:spcPct val="110700"/>
              </a:lnSpc>
            </a:pP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362075" indent="-217170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358140">
              <a:lnSpc>
                <a:spcPct val="221400"/>
              </a:lnSpc>
            </a:pP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'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7645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 a l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601980" indent="216535">
              <a:lnSpc>
                <a:spcPct val="2214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marR="221615" indent="-1631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'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73125" indent="21653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3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384810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2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11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4803140" cy="698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22307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3370579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\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57924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 p 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4 )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 z e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E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5080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 t ( "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p l i c 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 o t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D 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36240" indent="216535">
              <a:lnSpc>
                <a:spcPct val="2214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8731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90500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3370579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_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36207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-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38481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9085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 n k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s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- 1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 [ "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 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554990" marR="1905000" indent="-3257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9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|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9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|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683570"/>
            <a:ext cx="1428115" cy="61595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8.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.Test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3288" y="1140623"/>
            <a:ext cx="1090295" cy="2921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result</a:t>
            </a:r>
            <a:endParaRPr sz="750">
              <a:latin typeface="Trebuchet MS"/>
              <a:cs typeface="Trebuchet MS"/>
            </a:endParaRPr>
          </a:p>
          <a:p>
            <a:pPr marL="587375">
              <a:lnSpc>
                <a:spcPct val="100000"/>
              </a:lnSpc>
              <a:spcBef>
                <a:spcPts val="150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size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499" y="1273973"/>
            <a:ext cx="46990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accepted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4279" y="1291499"/>
            <a:ext cx="120396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members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4279" y="1558199"/>
            <a:ext cx="120396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members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9225" y="1558199"/>
            <a:ext cx="68326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asks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499" y="1691549"/>
            <a:ext cx="7277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size</a:t>
            </a:r>
            <a:endParaRPr sz="750">
              <a:latin typeface="Trebuchet MS"/>
              <a:cs typeface="Trebuchet MS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92449" y="1844527"/>
          <a:ext cx="4418328" cy="64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555">
                <a:tc>
                  <a:txBody>
                    <a:bodyPr/>
                    <a:lstStyle/>
                    <a:p>
                      <a:pPr marL="31750">
                        <a:lnSpc>
                          <a:spcPts val="855"/>
                        </a:lnSpc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855"/>
                        </a:lnSpc>
                      </a:pPr>
                      <a:r>
                        <a:rPr sz="750" spc="8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student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ID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entered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two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teams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55"/>
                        </a:lnSpc>
                      </a:pP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81660">
                        <a:lnSpc>
                          <a:spcPts val="855"/>
                        </a:lnSpc>
                      </a:pP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Duplicate</a:t>
                      </a:r>
                      <a:r>
                        <a:rPr sz="750" spc="1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ID</a:t>
                      </a:r>
                      <a:r>
                        <a:rPr sz="750" spc="1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1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detected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6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7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has</a:t>
                      </a:r>
                      <a:r>
                        <a:rPr sz="750" spc="2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750" spc="2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negative</a:t>
                      </a:r>
                      <a:r>
                        <a:rPr sz="750" spc="2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sz="750" spc="1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866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Program</a:t>
                      </a:r>
                      <a:r>
                        <a:rPr sz="750" spc="4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asks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 gridSpan="5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750" spc="10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750" spc="10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valid</a:t>
                      </a:r>
                      <a:r>
                        <a:rPr sz="750" spc="10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4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gridSpan="2"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7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7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has</a:t>
                      </a:r>
                      <a:r>
                        <a:rPr sz="750" spc="3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higher</a:t>
                      </a:r>
                      <a:r>
                        <a:rPr sz="750" spc="3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sz="750" spc="7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750" spc="7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ranks</a:t>
                      </a:r>
                      <a:r>
                        <a:rPr sz="750" spc="7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4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higher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555">
                <a:tc>
                  <a:txBody>
                    <a:bodyPr/>
                    <a:lstStyle/>
                    <a:p>
                      <a:pPr marL="31750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gridSpan="2">
                  <a:txBody>
                    <a:bodyPr/>
                    <a:lstStyle/>
                    <a:p>
                      <a:pPr marL="153035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scores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equal,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final-round</a:t>
                      </a:r>
                      <a:r>
                        <a:rPr sz="750" spc="16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scores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1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differ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Higher</a:t>
                      </a:r>
                      <a:r>
                        <a:rPr sz="750" spc="2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final-</a:t>
                      </a:r>
                      <a:r>
                        <a:rPr sz="750" spc="-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round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711499" y="2474123"/>
            <a:ext cx="2419350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endParaRPr sz="75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  <a:tabLst>
                <a:tab pos="504825" algn="l"/>
              </a:tabLst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7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	Total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equal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rank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49382" y="2624999"/>
            <a:ext cx="131635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98120" algn="l"/>
              </a:tabLst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	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share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same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499" y="29932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3247300"/>
            <a:ext cx="6120000" cy="255038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11499" y="5804037"/>
            <a:ext cx="607441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validates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hackathon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team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composition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student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IDs,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totals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scores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across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rounds,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and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ranks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teams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specified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tie-break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rules.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supports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fairer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more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organized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team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evaluation.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529580" cy="68055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lang="en-US" b="1" spc="245" dirty="0">
                <a:solidFill>
                  <a:srgbClr val="16365D"/>
                </a:solidFill>
                <a:latin typeface="Gill Sans MT"/>
                <a:cs typeface="Gill Sans MT"/>
              </a:rPr>
              <a:t>04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University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0" dirty="0">
                <a:solidFill>
                  <a:srgbClr val="16365D"/>
                </a:solidFill>
                <a:latin typeface="Gill Sans MT"/>
                <a:cs typeface="Gill Sans MT"/>
              </a:rPr>
              <a:t>Scholarship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Allocation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424815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applications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many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attendance,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time-consuming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cause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errors.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Allocation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evaluation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criteria,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preparing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list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eligible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resolving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fairly.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helps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allocate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scholarships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endParaRPr sz="7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organized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transparent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manner.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2700" marR="24765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evaluates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subject-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wise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income.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identifies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ranks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academic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performance,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resolves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unique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60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marks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out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100.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maximum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annual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allowed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₹2,50,000.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must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four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conditions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qualify.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ranked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 dirty="0">
              <a:latin typeface="Trebuchet MS"/>
              <a:cs typeface="Trebuchet MS"/>
            </a:endParaRPr>
          </a:p>
          <a:p>
            <a:pPr marL="12700" marR="37020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higher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 dirty="0">
              <a:latin typeface="Trebuchet MS"/>
              <a:cs typeface="Trebuchet MS"/>
            </a:endParaRPr>
          </a:p>
          <a:p>
            <a:pPr marL="12700" marR="629285" lvl="1" indent="183515">
              <a:lnSpc>
                <a:spcPct val="116700"/>
              </a:lnSpc>
              <a:buAutoNum type="arabicPeriod"/>
              <a:tabLst>
                <a:tab pos="19621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uses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these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assumed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criteria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educational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purposes;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actual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may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differ.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applicants.</a:t>
            </a:r>
            <a:endParaRPr sz="750" dirty="0">
              <a:latin typeface="Trebuchet MS"/>
              <a:cs typeface="Trebuchet MS"/>
            </a:endParaRPr>
          </a:p>
          <a:p>
            <a:pPr marL="12700" marR="55435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name,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attendance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annual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income.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every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mark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60.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annual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₹2,50,000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less.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conditions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list.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Sort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income.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Assign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tie-breaking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ranks,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967" y="1037499"/>
            <a:ext cx="3758065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251710" cy="391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65595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473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marR="330200">
              <a:lnSpc>
                <a:spcPct val="1107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09600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09600">
              <a:lnSpc>
                <a:spcPct val="100000"/>
              </a:lnSpc>
              <a:spcBef>
                <a:spcPts val="90"/>
              </a:spcBef>
            </a:pPr>
            <a:r>
              <a:rPr sz="700" spc="-1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790950" cy="6456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38112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 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 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670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r k 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a m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y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c o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5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1055370">
              <a:lnSpc>
                <a:spcPct val="110700"/>
              </a:lnSpc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4044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s .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 t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e y =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 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x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[ 3 ]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- 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P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2405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21856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conditions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satisfied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below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75%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mark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below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60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below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75%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above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₹2,50,000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aggregate,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Equal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Lower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first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7293519"/>
            <a:ext cx="6120000" cy="25129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00949"/>
            <a:ext cx="6129020" cy="8274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scholarship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applicants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against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academic,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attendance,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income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conditions,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1F2838"/>
                </a:solidFill>
                <a:latin typeface="Trebuchet MS"/>
                <a:cs typeface="Trebuchet MS"/>
              </a:rPr>
              <a:t>then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ranks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eligible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students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stated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criteria.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0" dirty="0">
                <a:solidFill>
                  <a:srgbClr val="1F2838"/>
                </a:solidFill>
                <a:latin typeface="Trebuchet MS"/>
                <a:cs typeface="Trebuchet MS"/>
              </a:rPr>
              <a:t>makes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evaluation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process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more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systematic and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transparent.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417820" cy="59893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lang="en-US" b="1" spc="245" dirty="0">
                <a:solidFill>
                  <a:srgbClr val="16365D"/>
                </a:solidFill>
                <a:latin typeface="Gill Sans MT"/>
                <a:cs typeface="Gill Sans MT"/>
              </a:rPr>
              <a:t>05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Smart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0" dirty="0">
                <a:solidFill>
                  <a:srgbClr val="16365D"/>
                </a:solidFill>
                <a:latin typeface="Gill Sans MT"/>
                <a:cs typeface="Gill Sans MT"/>
              </a:rPr>
              <a:t>Parking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0" dirty="0">
                <a:solidFill>
                  <a:srgbClr val="16365D"/>
                </a:solidFill>
                <a:latin typeface="Gill Sans MT"/>
                <a:cs typeface="Gill Sans MT"/>
              </a:rPr>
              <a:t>Fee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04" dirty="0">
                <a:solidFill>
                  <a:srgbClr val="16365D"/>
                </a:solidFill>
                <a:latin typeface="Gill Sans MT"/>
                <a:cs typeface="Gill Sans MT"/>
              </a:rPr>
              <a:t>Management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35255" lvl="1" indent="-122555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359410">
              <a:lnSpc>
                <a:spcPct val="116700"/>
              </a:lnSpc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fees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category,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time,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parking,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charges.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must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inputs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display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lvl="1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35255" indent="-122555">
              <a:lnSpc>
                <a:spcPct val="100000"/>
              </a:lnSpc>
              <a:spcBef>
                <a:spcPts val="530"/>
              </a:spcBef>
              <a:buAutoNum type="arabicPeriod" startAt="2"/>
              <a:tabLst>
                <a:tab pos="135255" algn="l"/>
              </a:tabLst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charges.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Apply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rates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categories.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Handle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parking,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penalties.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inputs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.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2700" marR="1761489">
              <a:lnSpc>
                <a:spcPct val="116700"/>
              </a:lnSpc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These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sample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program;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they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official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rates.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Rate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hour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 dirty="0">
              <a:latin typeface="Trebuchet MS"/>
              <a:cs typeface="Trebuchet MS"/>
            </a:endParaRPr>
          </a:p>
          <a:p>
            <a:pPr marL="12700" marR="4325620">
              <a:lnSpc>
                <a:spcPct val="116700"/>
              </a:lnSpc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Bike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₹10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₹100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Car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₹20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₹200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₹40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₹400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partial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hour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charged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full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hour.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₹50.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₹100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reports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lost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ticket.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times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use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24-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hour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HH:MM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format.</a:t>
            </a:r>
            <a:endParaRPr sz="750" dirty="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specifies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Start.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category,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status.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category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inputs.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minutes.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Convert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into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billable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hours,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rounding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up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partial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hours.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charge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vehicle's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hourly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rate.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Apply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maximum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fee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applicable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lost-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ticket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penalty.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Stop.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7620" y="1037499"/>
            <a:ext cx="2564759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1654175" cy="368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493395">
              <a:lnSpc>
                <a:spcPct val="221400"/>
              </a:lnSpc>
            </a:pP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p u 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v a l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8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7622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49339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38784" indent="21653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a l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19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717290" cy="8642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82765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44792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63322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27622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(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 t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 t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880744" marR="819150" indent="-217170">
              <a:lnSpc>
                <a:spcPct val="110700"/>
              </a:lnSpc>
              <a:spcBef>
                <a:spcPts val="5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3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9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9339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h i c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 e 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0902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1303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036319" indent="-217170">
              <a:lnSpc>
                <a:spcPct val="1107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036319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57924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9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79248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446405" marR="109029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-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9277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981710" indent="32512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1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6 0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a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n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e 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h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20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87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7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7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Gill Sans MT"/>
              <a:cs typeface="Gill Sans MT"/>
            </a:endParaRPr>
          </a:p>
          <a:p>
            <a:pPr marL="88900">
              <a:lnSpc>
                <a:spcPct val="100000"/>
              </a:lnSpc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8.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889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1158149"/>
            <a:ext cx="2324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1140623"/>
            <a:ext cx="3328035" cy="9588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details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Bike,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09:00–11:00,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₹20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Car,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09:00–10:30,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₹40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Bike,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09:00–22:00,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₹100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(daily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limit)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Car,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22:00–02:00,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₹130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Bus,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09:00–10:00,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lost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ticket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₹140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such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25:70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Ask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again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499" y="21931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2447200"/>
            <a:ext cx="6120000" cy="19065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1499" y="4360092"/>
            <a:ext cx="6137275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parking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fees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vehicle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type,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duration,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daily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limits,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overnight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fees,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ticket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penalties.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Input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validation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clear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bill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help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make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parking-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charge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calculations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consistent.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21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694680" cy="629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6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15" dirty="0">
                <a:solidFill>
                  <a:srgbClr val="16365D"/>
                </a:solidFill>
                <a:latin typeface="Gill Sans MT"/>
                <a:cs typeface="Gill Sans MT"/>
              </a:rPr>
              <a:t>Password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Policy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Validation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5" dirty="0">
                <a:solidFill>
                  <a:srgbClr val="16365D"/>
                </a:solidFill>
                <a:latin typeface="Gill Sans MT"/>
                <a:cs typeface="Gill Sans MT"/>
              </a:rPr>
              <a:t>Engine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412115">
              <a:lnSpc>
                <a:spcPct val="116700"/>
              </a:lnSpc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protect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accounts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personal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information.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Weak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passwords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make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accounts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vulnerable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unauthorized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access.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Policy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Validation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Engine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sample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passwords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against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rules,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including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length,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categories,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repeated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characters,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prohibited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substrings.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clearly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explains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fails.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passwords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security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length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verify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presence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digits,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special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three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identical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consecutive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characters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password.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detect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prohibited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substrings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such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"password".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clear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messages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explaining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failed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condition.</a:t>
            </a:r>
            <a:endParaRPr sz="750" dirty="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determine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defined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length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letter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(A–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Z).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lowercase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(a–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z).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digit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(0–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9).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password must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special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such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@,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#,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$,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!.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Three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more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identical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consecutive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characters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prohibited.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substring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prohibited,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regardless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letter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case.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accepted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satisfied.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Define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validation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Read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sample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user.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for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 lowercase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 digits,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special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repeats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three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times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consecutively.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contains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prohibited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substring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password,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ignoring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case.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Store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failed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conditions.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fail,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display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“Password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Valid.”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Otherwise,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display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“Password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Invalid.”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521" y="1037499"/>
            <a:ext cx="4798956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3011805" cy="4154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8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h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"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 i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 n g "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 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508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49339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 r o r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98880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4314190" cy="4048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 marR="2230755">
              <a:lnSpc>
                <a:spcPct val="110700"/>
              </a:lnSpc>
              <a:spcBef>
                <a:spcPts val="440"/>
              </a:spcBef>
            </a:pP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8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1915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8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92773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)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92773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y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i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)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 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52463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 o r s .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 e n d ( " A t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 a s t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 i r e d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@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$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!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&amp;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*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7312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30746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'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'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)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3393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 n P a s s 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a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d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4479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293624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4805843"/>
            <a:ext cx="274955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 TC07 TC08 TC09 TC10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713" y="4805843"/>
            <a:ext cx="2957830" cy="13589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Abc@1234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abc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length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category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fail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abcdefgh1@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ABCDEFG1@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lowercase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Abcdefgh@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digit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Abcdefg12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special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Abc@1111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repeated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consecutive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Password@1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prohibited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substring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Xy@98765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Aa@12345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499" y="625846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6512469"/>
            <a:ext cx="6120000" cy="14056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1499" y="7924507"/>
            <a:ext cx="6045200" cy="8274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sample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password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against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defined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security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rules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reports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conditions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that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fail.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demonstrates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how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several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independent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can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be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combined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to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support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safer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password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selection.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lang="en-US" spc="300" dirty="0"/>
              <a:t> </a:t>
            </a:r>
            <a:r>
              <a:rPr lang="en-US" spc="60" dirty="0"/>
              <a:t>Page</a:t>
            </a:r>
            <a:r>
              <a:rPr lang="en-US" spc="40" dirty="0"/>
              <a:t> </a:t>
            </a:r>
            <a:fld id="{81D60167-4931-47E6-BA6A-407CBD079E47}" type="slidenum">
              <a:rPr spc="60" smtClean="0"/>
              <a:t>24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239385" cy="66886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7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Gill Sans MT"/>
                <a:cs typeface="Gill Sans MT"/>
              </a:rPr>
              <a:t>Campus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0" dirty="0">
                <a:solidFill>
                  <a:srgbClr val="16365D"/>
                </a:solidFill>
                <a:latin typeface="Gill Sans MT"/>
                <a:cs typeface="Gill Sans MT"/>
              </a:rPr>
              <a:t>Transport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Allocation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100330">
              <a:lnSpc>
                <a:spcPct val="116700"/>
              </a:lnSpc>
            </a:pP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Campus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transport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management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sufficient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based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insufficient,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some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get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seats.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project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develops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program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determine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buses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needed,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passengers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limited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campus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allocation.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 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demand.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consider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bus.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accommodated.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results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clearly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efficient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transport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planning.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seating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known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every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operate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being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calculated.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carry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rounded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up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whole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number.</a:t>
            </a:r>
            <a:endParaRPr sz="750" dirty="0">
              <a:latin typeface="Trebuchet MS"/>
              <a:cs typeface="Trebuchet MS"/>
            </a:endParaRPr>
          </a:p>
          <a:p>
            <a:pPr marL="12700" marR="325120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insufficient,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considered unserved.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non-negative,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greater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zero.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bus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buses.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using: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user.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can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each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subtracting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demand.</a:t>
            </a:r>
            <a:endParaRPr sz="750" dirty="0">
              <a:latin typeface="Trebuchet MS"/>
              <a:cs typeface="Trebuchet MS"/>
            </a:endParaRPr>
          </a:p>
          <a:p>
            <a:pPr marL="12700" marR="27749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required,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buses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allocated,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passengers,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passengers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passengers.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396" y="1037499"/>
            <a:ext cx="4493207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3391535" cy="439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17614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204085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R="263525" algn="ctr">
              <a:lnSpc>
                <a:spcPct val="100000"/>
              </a:lnSpc>
              <a:spcBef>
                <a:spcPts val="90"/>
              </a:spcBef>
            </a:pP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21615">
              <a:lnSpc>
                <a:spcPct val="221400"/>
              </a:lnSpc>
            </a:pP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 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8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53225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2214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176145">
              <a:lnSpc>
                <a:spcPct val="110700"/>
              </a:lnSpc>
              <a:spcBef>
                <a:spcPts val="5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 l _ r e q u i r 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4043045" cy="450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 marR="1579245">
              <a:lnSpc>
                <a:spcPct val="110700"/>
              </a:lnSpc>
              <a:spcBef>
                <a:spcPts val="44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p a c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y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a c i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i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b l e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47066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u t e s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 u t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 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u t e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39331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 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50190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230755">
              <a:lnSpc>
                <a:spcPct val="221400"/>
              </a:lnSpc>
            </a:pP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176145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68783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25349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v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: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e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5280569"/>
            <a:ext cx="32677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capacity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demands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5587" y="5280569"/>
            <a:ext cx="906144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499" y="5396393"/>
            <a:ext cx="27495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2713" y="5396393"/>
            <a:ext cx="1258570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70,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60,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70,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60,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20,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30,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50,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20,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30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0, 0,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7931" y="5396393"/>
            <a:ext cx="1569085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required;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93704" y="5796443"/>
            <a:ext cx="1569085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required;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1499" y="631561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6569619"/>
            <a:ext cx="6120000" cy="229741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11499" y="8873382"/>
            <a:ext cx="6057265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estimates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buses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needed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for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campus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route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from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passenger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demand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seating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capacity.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also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identifies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unserved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passengers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when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available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fleet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is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insufficient.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65719"/>
            <a:ext cx="5361940" cy="73105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8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Smart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Canteen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14" dirty="0">
                <a:solidFill>
                  <a:srgbClr val="16365D"/>
                </a:solidFill>
                <a:latin typeface="Gill Sans MT"/>
                <a:cs typeface="Gill Sans MT"/>
              </a:rPr>
              <a:t>Order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0" dirty="0">
                <a:solidFill>
                  <a:srgbClr val="16365D"/>
                </a:solidFill>
                <a:latin typeface="Gill Sans MT"/>
                <a:cs typeface="Gill Sans MT"/>
              </a:rPr>
              <a:t>and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60" dirty="0">
                <a:solidFill>
                  <a:srgbClr val="16365D"/>
                </a:solidFill>
                <a:latin typeface="Gill Sans MT"/>
                <a:cs typeface="Gill Sans MT"/>
              </a:rPr>
              <a:t>Stock </a:t>
            </a:r>
            <a:r>
              <a:rPr sz="1800" b="1" spc="204" dirty="0">
                <a:solidFill>
                  <a:srgbClr val="16365D"/>
                </a:solidFill>
                <a:latin typeface="Gill Sans MT"/>
                <a:cs typeface="Gill Sans MT"/>
              </a:rPr>
              <a:t>Management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237490">
              <a:lnSpc>
                <a:spcPct val="116700"/>
              </a:lnSpc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canteen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needs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simple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orders,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bills,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stock,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track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sales.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managing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inventory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errors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shortages.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project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develops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accepts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successive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product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availability,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rejects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stock,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updates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inventory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after</a:t>
            </a:r>
            <a:r>
              <a:rPr sz="750" spc="5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successful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orders,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canteen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management.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successively.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prices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quantities.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availability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before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confirming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reject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requested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inventory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after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successful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canteen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sells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list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items.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price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initial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Customers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select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items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requested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positive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whole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accepted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requested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reduced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accepted.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Rejected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contribute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sales.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ends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done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instead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Initialize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items,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prices,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zero.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Ask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done,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exists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menu.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exists,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ask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sufficient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insufficient,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reject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without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changing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Otherwise,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amount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sales.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Repeat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items.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648625" y="10375900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215" y="1037499"/>
            <a:ext cx="4271570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197100" cy="450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38784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u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 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81915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2161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1823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446405" marR="330200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2161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438784">
              <a:lnSpc>
                <a:spcPct val="110700"/>
              </a:lnSpc>
            </a:pP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×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73125">
              <a:lnSpc>
                <a:spcPct val="221400"/>
              </a:lnSpc>
            </a:pP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29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2755900" cy="7827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 S m a r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3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213741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o 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 "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s a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210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3749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210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1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5"/>
              </a:spcBef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99758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80415" indent="216535">
              <a:lnSpc>
                <a:spcPct val="1107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99758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80415" indent="216535">
              <a:lnSpc>
                <a:spcPct val="1107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99758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80415" indent="216535">
              <a:lnSpc>
                <a:spcPct val="1107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99758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 t ( " 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i n i n g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g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: " 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40" dirty="0">
                <a:solidFill>
                  <a:srgbClr val="161F2A"/>
                </a:solidFill>
                <a:latin typeface="Trebuchet MS"/>
                <a:cs typeface="Trebuchet MS"/>
              </a:rPr>
              <a:t>/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8585364"/>
            <a:ext cx="274955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 TC07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713" y="8585364"/>
            <a:ext cx="3966210" cy="9588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idlis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₹40;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decreases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dosas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₹120;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decreases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teas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Rejected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because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insufficient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unknown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pizza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2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Place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successful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show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sum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accepted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done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report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displayed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30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1037499"/>
            <a:ext cx="6120000" cy="15276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2571462"/>
            <a:ext cx="6043295" cy="8274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 algn="just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processes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canteen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orders,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stock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before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accepting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order,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updates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inventory,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bills,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and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tracks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daily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sales.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helps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reduce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manual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billing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mistakes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stock-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management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confusion.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31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300980" cy="629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9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Food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0" dirty="0">
                <a:solidFill>
                  <a:srgbClr val="16365D"/>
                </a:solidFill>
                <a:latin typeface="Gill Sans MT"/>
                <a:cs typeface="Gill Sans MT"/>
              </a:rPr>
              <a:t>Waste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5" dirty="0">
                <a:solidFill>
                  <a:srgbClr val="16365D"/>
                </a:solidFill>
                <a:latin typeface="Gill Sans MT"/>
                <a:cs typeface="Gill Sans MT"/>
              </a:rPr>
              <a:t>Monitoring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5" dirty="0">
                <a:solidFill>
                  <a:srgbClr val="16365D"/>
                </a:solidFill>
                <a:latin typeface="Gill Sans MT"/>
                <a:cs typeface="Gill Sans MT"/>
              </a:rPr>
              <a:t>System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77470">
              <a:lnSpc>
                <a:spcPct val="116700"/>
              </a:lnSpc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waste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common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schools,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colleges,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hostels,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canteens.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than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needed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leads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unnecessary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waste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increased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costs.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Waste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Monitoring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compares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prepared,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served,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over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several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food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identifies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days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develop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Python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monitor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waste over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several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record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meals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meals served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meals.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percentage.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days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help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improve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preparation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reduce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unnecessary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waste.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records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data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non-negative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whole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prepared.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minus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served.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assumed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10%.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prepared.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10%,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day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marked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exceeding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10%.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days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monitor.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served.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subtracting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 served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meals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prepared.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formula: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Compare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10%,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warning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Otherwise,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Repeat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results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7143" y="1037499"/>
            <a:ext cx="4345713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848610" cy="332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741805">
              <a:lnSpc>
                <a:spcPct val="2214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5246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38481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 indent="216535">
              <a:lnSpc>
                <a:spcPct val="1107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 f t o v e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3030" indent="21653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3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228340" cy="309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73125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s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229235" marR="168783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7645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74180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71056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416050" indent="-217170">
              <a:lnSpc>
                <a:spcPct val="110700"/>
              </a:lnSpc>
              <a:spcBef>
                <a:spcPts val="5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 H i g h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 o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 t e !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7645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3861111"/>
            <a:ext cx="2972435" cy="61595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8.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Leftovers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0277" y="4335689"/>
            <a:ext cx="154559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499" y="4451513"/>
            <a:ext cx="27495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8106" y="4718213"/>
            <a:ext cx="982344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245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180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10%</a:t>
            </a:r>
            <a:endParaRPr sz="7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20%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0%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4933" y="4718213"/>
            <a:ext cx="70231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 marR="5080" indent="-1905">
              <a:lnSpc>
                <a:spcPct val="116700"/>
              </a:lnSpc>
              <a:spcBef>
                <a:spcPts val="9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25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2713" y="4451513"/>
            <a:ext cx="2305685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95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5%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20%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limit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200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7275" y="4851563"/>
            <a:ext cx="643255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6753" y="5135789"/>
            <a:ext cx="107251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0%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1499" y="537073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5624739"/>
            <a:ext cx="6120000" cy="223504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1499" y="7866136"/>
            <a:ext cx="588391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leftovers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wastage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percentages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for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monitored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day.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Comparing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1F2838"/>
                </a:solidFill>
                <a:latin typeface="Trebuchet MS"/>
                <a:cs typeface="Trebuchet MS"/>
              </a:rPr>
              <a:t>the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result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with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chosen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80" dirty="0">
                <a:solidFill>
                  <a:srgbClr val="1F2838"/>
                </a:solidFill>
                <a:latin typeface="Trebuchet MS"/>
                <a:cs typeface="Trebuchet MS"/>
              </a:rPr>
              <a:t>10%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limit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helps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identify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days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that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5" dirty="0">
                <a:solidFill>
                  <a:srgbClr val="1F2838"/>
                </a:solidFill>
                <a:latin typeface="Trebuchet MS"/>
                <a:cs typeface="Trebuchet MS"/>
              </a:rPr>
              <a:t>may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need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improved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meal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planning.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915025" cy="615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lang="en-US"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1</a:t>
            </a:r>
            <a:r>
              <a:rPr lang="en-US" b="1" spc="245" dirty="0">
                <a:solidFill>
                  <a:srgbClr val="16365D"/>
                </a:solidFill>
                <a:latin typeface="Gill Sans MT"/>
                <a:cs typeface="Gill Sans MT"/>
              </a:rPr>
              <a:t>0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Gill Sans MT"/>
                <a:cs typeface="Gill Sans MT"/>
              </a:rPr>
              <a:t>Sports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60" dirty="0">
                <a:solidFill>
                  <a:srgbClr val="16365D"/>
                </a:solidFill>
                <a:latin typeface="Gill Sans MT"/>
                <a:cs typeface="Gill Sans MT"/>
              </a:rPr>
              <a:t>Tournament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20" dirty="0">
                <a:solidFill>
                  <a:srgbClr val="16365D"/>
                </a:solidFill>
                <a:latin typeface="Gill Sans MT"/>
                <a:cs typeface="Gill Sans MT"/>
              </a:rPr>
              <a:t>Ranking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5" dirty="0">
                <a:solidFill>
                  <a:srgbClr val="16365D"/>
                </a:solidFill>
                <a:latin typeface="Gill Sans MT"/>
                <a:cs typeface="Gill Sans MT"/>
              </a:rPr>
              <a:t>System</a:t>
            </a:r>
            <a:endParaRPr sz="1800" dirty="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 dirty="0">
              <a:latin typeface="Trebuchet MS"/>
              <a:cs typeface="Trebuchet MS"/>
            </a:endParaRPr>
          </a:p>
          <a:p>
            <a:pPr marL="12700" marR="87630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sports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tournaments,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ranked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match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results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Calculating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errors,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especially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points.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project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develops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record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results,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values,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competition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policy.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sports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tournament.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names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earned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values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teams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competition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tournament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standings.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team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plays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matches.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earns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draw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earns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loss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earns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points.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records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scored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minus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conceded.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first,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value.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values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share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position.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negative.</a:t>
            </a:r>
            <a:endParaRPr sz="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 dirty="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team's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name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initialize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zero.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matches.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match,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names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Award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winner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draw.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team's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conceded.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as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scored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minus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conceded.</a:t>
            </a:r>
            <a:endParaRPr sz="750" dirty="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Sort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followed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rankings,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values.</a:t>
            </a:r>
            <a:endParaRPr sz="750" dirty="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4754" y="1037499"/>
            <a:ext cx="4470491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143125" cy="368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7312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1915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3030">
              <a:lnSpc>
                <a:spcPct val="221400"/>
              </a:lnSpc>
            </a:pP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60198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1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65595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2214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384810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363595" cy="700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" S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 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 s t e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7457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11696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334135">
              <a:lnSpc>
                <a:spcPct val="1107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.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682625">
              <a:lnSpc>
                <a:spcPct val="221400"/>
              </a:lnSpc>
            </a:pP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1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 p u 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 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( 1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7372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8564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12217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12217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-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 n g e ( i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1 ,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9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356870" algn="just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 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j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8564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7157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2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499" y="7758593"/>
            <a:ext cx="27495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</a:t>
            </a:r>
            <a:endParaRPr sz="75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TC05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713" y="7758593"/>
            <a:ext cx="1120775" cy="5588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3–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2–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4–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C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8382" y="7758593"/>
            <a:ext cx="1338580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points;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get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point</a:t>
            </a:r>
            <a:endParaRPr sz="7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points;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C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7275" y="8176169"/>
            <a:ext cx="448564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but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values</a:t>
            </a:r>
            <a:r>
              <a:rPr sz="750" spc="2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2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2713" y="8442869"/>
            <a:ext cx="270192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matches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completed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displayed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1037499"/>
            <a:ext cx="6120000" cy="28976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3941540"/>
            <a:ext cx="581787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awards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points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from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match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results,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score-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based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tie-break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values,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sorts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teams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into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final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ranking.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provides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consistent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way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to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prepare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tournament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standings.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19655</Words>
  <Application>Microsoft Office PowerPoint</Application>
  <PresentationFormat>Custom</PresentationFormat>
  <Paragraphs>1161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 Narrow</vt:lpstr>
      <vt:lpstr>Calibri</vt:lpstr>
      <vt:lpstr>Gill Sans MT</vt:lpstr>
      <vt:lpstr>Times New Roman</vt:lpstr>
      <vt:lpstr>Trebuchet MS</vt:lpstr>
      <vt:lpstr>Office Theme</vt:lpstr>
      <vt:lpstr>PYTHON ACTIVITY BASED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nimma lakshya sadhana</cp:lastModifiedBy>
  <cp:revision>3</cp:revision>
  <dcterms:created xsi:type="dcterms:W3CDTF">2026-10-24T11:07:07Z</dcterms:created>
  <dcterms:modified xsi:type="dcterms:W3CDTF">2026-10-26T05:57:46Z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2026-10-24T00:00:00Z</vt:filetime>
  </property>
  <property fmtid="{D5CDD505-2E9C-101B-9397-08002B2CF9AE}" pid="4" name="LastSaved">
    <vt:filetime>2026-10-24T00:00:00Z</vt:filetime>
  </property>
</Properties>
</file>